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4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6136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900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6E00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40080" y="5486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APPLIANCE REPAIR LLC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2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You Can Trust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21945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Dryer Maintenance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640080" y="315468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2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Homes, Saving Money &amp; Preventing Fires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40080" y="4160520"/>
            <a:ext cx="2926080" cy="0"/>
          </a:xfrm>
          <a:prstGeom prst="line">
            <a:avLst/>
          </a:prstGeom>
          <a:noFill/>
          <a:ln w="12700">
            <a:solidFill>
              <a:srgbClr val="F2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" y="43434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Rafael Cordero, President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40080" y="4709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Veteran-Owned  •  Christian-Owned  •  Serving Corpus Christi &amp; South Texas</a:t>
            </a:r>
            <a:endParaRPr lang="en-US" sz="13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518CAE9-026E-9D8E-59E1-872E32AE1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080" y="-96520"/>
            <a:ext cx="6502400" cy="6502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A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Dryer Maintenance Matters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home fires each year are linked to dryers — and a lack of maintenance is the leading cause.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LINT BUILDS UP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92608" cy="292608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1214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is restricted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292608" cy="292608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679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651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cannot escape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09544"/>
            <a:ext cx="292608" cy="292608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209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31821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overheat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739896"/>
            <a:ext cx="292608" cy="292608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739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71246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bills increase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270248"/>
            <a:ext cx="292608" cy="292608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4270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42428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risk rises dramatically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89320" y="1691640"/>
            <a:ext cx="5623560" cy="2880360"/>
          </a:xfrm>
          <a:prstGeom prst="roundRect">
            <a:avLst>
              <a:gd name="adj" fmla="val 2540"/>
            </a:avLst>
          </a:prstGeom>
          <a:solidFill>
            <a:srgbClr val="2F3C7E"/>
          </a:solidFill>
          <a:ln/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55080" y="1874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AFC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MAINTENANCE DELIVERS</a:t>
            </a:r>
            <a:endParaRPr lang="en-US" sz="1300" dirty="0"/>
          </a:p>
        </p:txBody>
      </p:sp>
      <p:pic>
        <p:nvPicPr>
          <p:cNvPr id="22" name="Image 0" descr="icon_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331720"/>
            <a:ext cx="292608" cy="29260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812280" y="228600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drying times</a:t>
            </a:r>
            <a:endParaRPr lang="en-US" sz="1400" dirty="0"/>
          </a:p>
        </p:txBody>
      </p:sp>
      <p:pic>
        <p:nvPicPr>
          <p:cNvPr id="24" name="Image 1" descr="icon_bol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770632"/>
            <a:ext cx="292608" cy="29260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812280" y="272491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electricity usage</a:t>
            </a:r>
            <a:endParaRPr lang="en-US" sz="1400" dirty="0"/>
          </a:p>
        </p:txBody>
      </p:sp>
      <p:pic>
        <p:nvPicPr>
          <p:cNvPr id="26" name="Image 2" descr="icon_cha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209544"/>
            <a:ext cx="292608" cy="29260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812280" y="316382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appliance lifespan</a:t>
            </a:r>
            <a:endParaRPr lang="en-US" sz="1400" dirty="0"/>
          </a:p>
        </p:txBody>
      </p:sp>
      <p:pic>
        <p:nvPicPr>
          <p:cNvPr id="28" name="Image 3" descr="icon_che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648456"/>
            <a:ext cx="292608" cy="29260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812280" y="360273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unexpected breakdowns</a:t>
            </a:r>
            <a:endParaRPr lang="en-US" sz="1400" dirty="0"/>
          </a:p>
        </p:txBody>
      </p:sp>
      <p:pic>
        <p:nvPicPr>
          <p:cNvPr id="30" name="Image 4" descr="icon_shiel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4087368"/>
            <a:ext cx="292608" cy="29260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812280" y="404164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safety for your family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6"/>
          <p:cNvSpPr/>
          <p:nvPr/>
        </p:nvSpPr>
        <p:spPr>
          <a:xfrm>
            <a:off x="914400" y="52303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914400" y="548640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maintenance service today can prevent thousands of dollars in repairs tomorrow — and may even save your home.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A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Dryer Hazards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problems we find during service calls: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4EFEC"/>
          </a:solidFill>
          <a:ln/>
          <a:effectLst>
            <a:outerShdw blurRad="76200" dist="25400" dir="5400000" algn="bl" rotWithShape="0">
              <a:srgbClr val="99001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59052" y="1801368"/>
            <a:ext cx="585216" cy="58521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_win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924" y="19202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5146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accumulation inside the cabinet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319272" y="16002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4EFEC"/>
          </a:solidFill>
          <a:ln/>
          <a:effectLst>
            <a:outerShdw blurRad="76200" dist="25400" dir="5400000" algn="bl" rotWithShape="0">
              <a:srgbClr val="99001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329684" y="1801368"/>
            <a:ext cx="585216" cy="58521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icon_win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556" y="192024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56432" y="25146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Clogged dryer vents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089904" y="16002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4EFEC"/>
          </a:solidFill>
          <a:ln/>
          <a:effectLst>
            <a:outerShdw blurRad="76200" dist="25400" dir="5400000" algn="bl" rotWithShape="0">
              <a:srgbClr val="99001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7100316" y="1801368"/>
            <a:ext cx="585216" cy="58521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icon_fir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9188" y="1920240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27064" y="25146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Burned heating elements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860536" y="16002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4EFEC"/>
          </a:solidFill>
          <a:ln/>
          <a:effectLst>
            <a:outerShdw blurRad="76200" dist="25400" dir="5400000" algn="bl" rotWithShape="0">
              <a:srgbClr val="99001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9870948" y="1801368"/>
            <a:ext cx="585216" cy="58521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icon_bol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9820" y="1920240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997696" y="25146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Melted electrical wiring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36118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4EFEC"/>
          </a:solidFill>
          <a:ln/>
          <a:effectLst>
            <a:outerShdw blurRad="76200" dist="25400" dir="5400000" algn="bl" rotWithShape="0">
              <a:srgbClr val="99001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1559052" y="3813048"/>
            <a:ext cx="585216" cy="58521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icon_cog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7924" y="3931920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85800" y="45262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Worn drum rollers and belts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3319272" y="36118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4EFEC"/>
          </a:solidFill>
          <a:ln/>
          <a:effectLst>
            <a:outerShdw blurRad="76200" dist="25400" dir="5400000" algn="bl" rotWithShape="0">
              <a:srgbClr val="99001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8"/>
          <p:cNvSpPr/>
          <p:nvPr/>
        </p:nvSpPr>
        <p:spPr>
          <a:xfrm>
            <a:off x="4329684" y="3813048"/>
            <a:ext cx="585216" cy="58521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5" descr="icon_cog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8556" y="3931920"/>
            <a:ext cx="347472" cy="34747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456432" y="45262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 blower wheels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6089904" y="36118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4EFEC"/>
          </a:solidFill>
          <a:ln/>
          <a:effectLst>
            <a:outerShdw blurRad="76200" dist="25400" dir="5400000" algn="bl" rotWithShape="0">
              <a:srgbClr val="99001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1"/>
          <p:cNvSpPr/>
          <p:nvPr/>
        </p:nvSpPr>
        <p:spPr>
          <a:xfrm>
            <a:off x="7100316" y="3813048"/>
            <a:ext cx="585216" cy="58521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6" descr="icon_thermomete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9188" y="3931920"/>
            <a:ext cx="347472" cy="34747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227064" y="45262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Overheated thermostats</a:t>
            </a:r>
            <a:endParaRPr lang="en-US" sz="1250" dirty="0"/>
          </a:p>
        </p:txBody>
      </p:sp>
      <p:sp>
        <p:nvSpPr>
          <p:cNvPr id="32" name="Shape 23"/>
          <p:cNvSpPr/>
          <p:nvPr/>
        </p:nvSpPr>
        <p:spPr>
          <a:xfrm>
            <a:off x="8860536" y="36118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4EFEC"/>
          </a:solidFill>
          <a:ln/>
          <a:effectLst>
            <a:outerShdw blurRad="76200" dist="25400" dir="5400000" algn="bl" rotWithShape="0">
              <a:srgbClr val="99001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4"/>
          <p:cNvSpPr/>
          <p:nvPr/>
        </p:nvSpPr>
        <p:spPr>
          <a:xfrm>
            <a:off x="9870948" y="3813048"/>
            <a:ext cx="585216" cy="58521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7" descr="icon_bol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9820" y="3931920"/>
            <a:ext cx="347472" cy="34747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8997696" y="45262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 electrical connections</a:t>
            </a:r>
            <a:endParaRPr lang="en-US" sz="1250" dirty="0"/>
          </a:p>
        </p:txBody>
      </p:sp>
      <p:sp>
        <p:nvSpPr>
          <p:cNvPr id="36" name="Text 26"/>
          <p:cNvSpPr/>
          <p:nvPr/>
        </p:nvSpPr>
        <p:spPr>
          <a:xfrm>
            <a:off x="548640" y="63550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homeowners only clean the lint filter after each load — but hidden buildup inside the machine and exhaust vent is where many fires begin.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Warning Signs Your Dryer Needs Service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6C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notice any of these symptoms, it's time for a professional inspection: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_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01168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87452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Clothes take longer than one cycle to dry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63640" y="1874520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icon_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201168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0" y="187452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dryer feels unusually hot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560320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icon_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697480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256032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notice a burning smell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263640" y="2560320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icon_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2697480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58000" y="256032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lint collects around the dryer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3246120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4" descr="icon_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383280"/>
            <a:ext cx="292608" cy="2926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43000" y="324612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dryer shuts off unexpectedly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6263640" y="3246120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5" descr="icon_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3383280"/>
            <a:ext cx="292608" cy="29260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58000" y="324612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laundry room becomes hot and humid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548640" y="3931920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6" descr="icon_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069080"/>
            <a:ext cx="292608" cy="29260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143000" y="393192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electric bill suddenly increases</a:t>
            </a:r>
            <a:endParaRPr lang="en-US" sz="1400" dirty="0"/>
          </a:p>
        </p:txBody>
      </p:sp>
      <p:sp>
        <p:nvSpPr>
          <p:cNvPr id="25" name="Shape 16"/>
          <p:cNvSpPr/>
          <p:nvPr/>
        </p:nvSpPr>
        <p:spPr>
          <a:xfrm>
            <a:off x="548640" y="598932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7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These warning signs should never be ignored.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Your Investment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Appliance Care Membership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246120" cy="5074920"/>
          </a:xfrm>
          <a:prstGeom prst="roundRect">
            <a:avLst>
              <a:gd name="adj" fmla="val 2817"/>
            </a:avLst>
          </a:prstGeom>
          <a:solidFill>
            <a:srgbClr val="990011"/>
          </a:solidFill>
          <a:ln/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2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AT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$19.95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2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3063240"/>
            <a:ext cx="2606040" cy="0"/>
          </a:xfrm>
          <a:prstGeom prst="line">
            <a:avLst/>
          </a:prstGeom>
          <a:noFill/>
          <a:ln w="12700">
            <a:solidFill>
              <a:srgbClr val="C24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Appliance — $19.95/mo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Additional — +$5.95/mo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4343400"/>
            <a:ext cx="2606040" cy="0"/>
          </a:xfrm>
          <a:prstGeom prst="line">
            <a:avLst/>
          </a:prstGeom>
          <a:noFill/>
          <a:ln w="12700">
            <a:solidFill>
              <a:srgbClr val="C24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inspect every visit: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754880"/>
            <a:ext cx="2697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Heating system • Airflow • Vent restrictions • Thermal fuse • Thermostats • Belt • Rollers • Idler pulley • Blower wheel • Wiring • Internal lint • Overall safety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6052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BENEFITS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60520" y="1828800"/>
            <a:ext cx="310896" cy="310896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0" descr="icon_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384" y="1883664"/>
            <a:ext cx="201168" cy="20116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617720" y="177393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annual preventive maintenance visit per covered appliance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160520" y="2340864"/>
            <a:ext cx="310896" cy="310896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1" descr="icon_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384" y="2395728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617720" y="22860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off eligible repair labor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4160520" y="2852928"/>
            <a:ext cx="310896" cy="310896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2" descr="icon_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384" y="2907792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617720" y="27980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off eligible replacement parts</a:t>
            </a:r>
            <a:endParaRPr lang="en-US" sz="1350" dirty="0"/>
          </a:p>
        </p:txBody>
      </p:sp>
      <p:sp>
        <p:nvSpPr>
          <p:cNvPr id="25" name="Shape 20"/>
          <p:cNvSpPr/>
          <p:nvPr/>
        </p:nvSpPr>
        <p:spPr>
          <a:xfrm>
            <a:off x="4160520" y="3364992"/>
            <a:ext cx="310896" cy="310896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icon_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384" y="3419856"/>
            <a:ext cx="201168" cy="20116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617720" y="33101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scheduling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4160520" y="3877056"/>
            <a:ext cx="310896" cy="310896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4" descr="icon_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384" y="3931920"/>
            <a:ext cx="201168" cy="20116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617720" y="382219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appliance safety inspection</a:t>
            </a:r>
            <a:endParaRPr lang="en-US" sz="1350" dirty="0"/>
          </a:p>
        </p:txBody>
      </p:sp>
      <p:sp>
        <p:nvSpPr>
          <p:cNvPr id="31" name="Shape 24"/>
          <p:cNvSpPr/>
          <p:nvPr/>
        </p:nvSpPr>
        <p:spPr>
          <a:xfrm>
            <a:off x="4160520" y="4389120"/>
            <a:ext cx="310896" cy="310896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icon_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384" y="4443984"/>
            <a:ext cx="201168" cy="20116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617720" y="433425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service history &amp; maintenance recommendations</a:t>
            </a:r>
            <a:endParaRPr lang="en-US" sz="1350" dirty="0"/>
          </a:p>
        </p:txBody>
      </p:sp>
      <p:sp>
        <p:nvSpPr>
          <p:cNvPr id="34" name="Shape 26"/>
          <p:cNvSpPr/>
          <p:nvPr/>
        </p:nvSpPr>
        <p:spPr>
          <a:xfrm>
            <a:off x="4160520" y="4901184"/>
            <a:ext cx="310896" cy="310896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6" descr="icon_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384" y="4956048"/>
            <a:ext cx="201168" cy="20116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4617720" y="4846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member promotions</a:t>
            </a:r>
            <a:endParaRPr lang="en-US" sz="1350" dirty="0"/>
          </a:p>
        </p:txBody>
      </p:sp>
      <p:sp>
        <p:nvSpPr>
          <p:cNvPr id="37" name="Shape 28"/>
          <p:cNvSpPr/>
          <p:nvPr/>
        </p:nvSpPr>
        <p:spPr>
          <a:xfrm>
            <a:off x="4160520" y="5440680"/>
            <a:ext cx="7452360" cy="868680"/>
          </a:xfrm>
          <a:prstGeom prst="roundRect">
            <a:avLst>
              <a:gd name="adj" fmla="val 8421"/>
            </a:avLst>
          </a:prstGeom>
          <a:solidFill>
            <a:srgbClr val="F4EF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29"/>
          <p:cNvSpPr/>
          <p:nvPr/>
        </p:nvSpPr>
        <p:spPr>
          <a:xfrm>
            <a:off x="4434840" y="544068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i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Preventive maintenance costs far less than replacing an appliance — or repairing damage caused by a dryer fire.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More Than an Appliance Company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Appliance Repair is part of a larger vision — American Alliance Group.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_hom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09928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214884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Appliance Repair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319272" y="15087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icon_box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2" y="1709928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83864" y="214884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Appliance Parts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089904" y="15087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icon_tru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1709928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54496" y="214884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Appliance 4U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8860536" y="15087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icon_thermomete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3416" y="1709928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025128" y="214884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Climate Solutions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48640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4" descr="icon_bol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264408"/>
            <a:ext cx="384048" cy="38404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13232" y="370332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Power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3319272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5" descr="icon_gra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2152" y="3264408"/>
            <a:ext cx="384048" cy="38404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483864" y="370332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Technical Academy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6089904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6" descr="icon_hands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2784" y="3264408"/>
            <a:ext cx="384048" cy="38404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254496" y="370332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Vision (Nonprofit)</a:t>
            </a:r>
            <a:endParaRPr lang="en-US" sz="1300" dirty="0"/>
          </a:p>
        </p:txBody>
      </p:sp>
      <p:sp>
        <p:nvSpPr>
          <p:cNvPr id="25" name="Text 16"/>
          <p:cNvSpPr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FUTURE VISION</a:t>
            </a:r>
            <a:endParaRPr lang="en-US" sz="1200" dirty="0"/>
          </a:p>
        </p:txBody>
      </p:sp>
      <p:sp>
        <p:nvSpPr>
          <p:cNvPr id="26" name="Text 17"/>
          <p:cNvSpPr/>
          <p:nvPr/>
        </p:nvSpPr>
        <p:spPr>
          <a:xfrm>
            <a:off x="548640" y="5029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homes  •  Reliable appliance sales &amp; service  •  Professional parts supply  •  Training the next generation of technicians  •  Expanding into energy &amp; climate solutions  •  Investing in our community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548640" y="58521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19"/>
          <p:cNvSpPr/>
          <p:nvPr/>
        </p:nvSpPr>
        <p:spPr>
          <a:xfrm>
            <a:off x="822960" y="58521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mission isn't simply to repair appliances — it's to build opportunities, strengthen families, and serve our community with integrity and excellence.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3960A3-8F62-6CBE-BCF4-9E0C98B0D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56"/>
            <a:ext cx="12191233" cy="685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9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FAC2E1-5D9D-C223-7948-B3ED7B28D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19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144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9900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6E00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480560" y="91440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4480560" y="173736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2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your dryer isn't just about keeping your clothes dry — it's about protecting your home, saving money, and keeping your family safe.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480560" y="269748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about dryer maintenance, appliance safety, or our preventive maintenance membership? I'd be happy to answer them.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480560" y="3520440"/>
            <a:ext cx="6766560" cy="0"/>
          </a:xfrm>
          <a:prstGeom prst="line">
            <a:avLst/>
          </a:prstGeom>
          <a:noFill/>
          <a:ln w="12700">
            <a:solidFill>
              <a:srgbClr val="C24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480560" y="37490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APPLIANCE REPAIR LLC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480560" y="40690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2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You Can Trust</a:t>
            </a:r>
            <a:endParaRPr lang="en-US" sz="1200" dirty="0"/>
          </a:p>
        </p:txBody>
      </p:sp>
      <p:pic>
        <p:nvPicPr>
          <p:cNvPr id="10" name="Image 1" descr="icon_hom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46177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458114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3701 Apollo Rd, Corpus Christi, TX 78413</a:t>
            </a:r>
            <a:endParaRPr lang="en-US" sz="1350" dirty="0"/>
          </a:p>
        </p:txBody>
      </p:sp>
      <p:pic>
        <p:nvPicPr>
          <p:cNvPr id="12" name="Image 2" descr="icon_phon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507492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92040" y="503834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Parts: (361) 400-9513</a:t>
            </a:r>
            <a:endParaRPr lang="en-US" sz="1350" dirty="0"/>
          </a:p>
        </p:txBody>
      </p:sp>
      <p:pic>
        <p:nvPicPr>
          <p:cNvPr id="14" name="Image 3" descr="icon_wrenc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553212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892040" y="549554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Service: (361) 673-0937</a:t>
            </a:r>
            <a:endParaRPr lang="en-US" sz="13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1DB2E5-671C-475A-5CF4-812A219207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492" y="1371601"/>
            <a:ext cx="3036376" cy="35204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571</Words>
  <Application>Microsoft Macintosh PowerPoint</Application>
  <PresentationFormat>Widescreen</PresentationFormat>
  <Paragraphs>94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JUAN COLON</cp:lastModifiedBy>
  <cp:revision>2</cp:revision>
  <dcterms:created xsi:type="dcterms:W3CDTF">2026-08-03T15:12:54Z</dcterms:created>
  <dcterms:modified xsi:type="dcterms:W3CDTF">2026-08-03T15:36:56Z</dcterms:modified>
</cp:coreProperties>
</file>